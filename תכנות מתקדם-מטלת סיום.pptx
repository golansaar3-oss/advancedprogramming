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39AA8B-CD41-1EF3-F153-E87AAA81A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5FF897C-051E-8CB5-12B8-B9243D4D8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CD71E52-02BC-1081-EA17-B3E6F1BF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292D732-C107-5AE6-8788-2A705632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EC223DC-9565-EAA9-CF73-E024A972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915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3F627A-DFB2-B38A-8F4C-50521D49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1897E80-39FB-6237-3D34-B060406AE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A8DF571-11C3-9C61-E051-F9517AB9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2368531-3619-9147-66D2-959316CE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1A41CA7-4B86-E27E-17C4-B6A2E9AB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920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70F6B3-00C4-8653-05DA-FFE89503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9D289EF-C0C2-D398-699C-414155AD2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85B905-74E3-5A7D-2AFD-D677B323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CF17C0D-EF86-C6C9-1459-8A1648B8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0EB5D6B-614A-8B22-A911-2AB46F81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48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6B5987-6081-EE8A-4BB7-2CAF6E45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6334B4C-491B-157F-127B-A0FA49C49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12840EB-1F40-92CB-456B-C43AC2B9E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680A39E-BA0D-169F-0EAF-4DCC607E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67019A0-7B37-F60D-AADE-200F7675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9B81FFD-E194-9926-69D7-5D885A5F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50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46585C-65D8-6431-9A30-A5192595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3106FE8-4904-FAAE-A169-03D995075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9D00061-681F-F2C2-75DB-7578506ED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78D2601-A640-3EFB-FE24-B19B4E050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A032DA7-AA19-5C20-6E97-11F068B12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96E01B5-9DBC-40B8-226C-A71F579D0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EE5DF4B-F809-AA58-A8B8-566A1193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779A2C5-D941-481A-550B-3D0DAC63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90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B77DB8-6EBC-DE29-62B9-876A8BE4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28586A8-033D-CB92-FAD9-9EDB8773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CB323CB-1687-1EBE-6788-96CEFD59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FAA947C-AE3B-77F4-46AA-2C2AA680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009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B07C55C-48F9-7B3A-C9C7-7F9B1172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698EC1F-5AE2-3057-229F-4E06F1FE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A3B6F60-37ED-6B2F-7D10-254DFFC4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3977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B5D7D5-3DF8-EA7C-42B0-1655AA47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C171220-9F36-B5E3-6F1D-FC37A3A2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E6C99DA-430F-8356-6B20-E111BD630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EF94F2B-CC81-8C3F-C8DE-10D3A682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1EFE1D6-548B-71F6-6623-2B24582B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E61610A-84ED-1669-32AE-C4E242EE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997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000517-6B01-71B8-B894-DA159A785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10EEA57-F59E-3C16-586B-84D349E62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5AA71B1-1CE8-95DB-8896-1BFD3F3F2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E19C3BF-85E7-DDD2-E773-D8E8F35E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BA20166-3534-C542-85E8-4B03FFBB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66EAB7E-4FD8-0A6D-9DF5-CFBB545D0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269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F84356-75B7-6EA9-6EBC-6BCE64F1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0D9FCCD-52C0-E370-8443-DC2061828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65306CC-AB9D-4E08-5596-4BC64337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0D6AFC-D156-62B1-55D7-7FBE15F63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5BD023A-6905-88C8-5F03-F29FCCEB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4806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343A3A3-46C4-CFEE-D900-9FB2F6D76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68F64B3-D685-A5F0-57B2-694C6B6DC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F36DE70-CC1F-6A72-855E-9BD50444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16201A7-F407-322D-B368-EB6D8451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7F132A-8219-16A6-CA62-8089D805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4342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8C636E3-5550-865F-B18A-2FCDFA2E0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488AF6E-5931-D70C-6A5D-F32D14F5E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7DCA93-3E60-E3F4-5DDB-14FBE2BFC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33039-1BB1-4C01-9F00-168762CCDD74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5C88EEA-39D5-4643-DEBE-9C1BB0AD2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DB1576F-EFBA-5C3D-65E4-BF3B7E9DC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7B83-4209-4C34-ABD5-578FCC493F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826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50BD99-BC5E-5C74-E9E5-13348555C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6073"/>
            <a:ext cx="9144000" cy="1013650"/>
          </a:xfrm>
        </p:spPr>
        <p:txBody>
          <a:bodyPr>
            <a:normAutofit/>
          </a:bodyPr>
          <a:lstStyle/>
          <a:p>
            <a:r>
              <a:rPr lang="he-IL" dirty="0"/>
              <a:t>תכנות מתקדם-מטלת סיום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B484245-9B49-5C43-74B4-01060EBC3EB0}"/>
              </a:ext>
            </a:extLst>
          </p:cNvPr>
          <p:cNvSpPr txBox="1"/>
          <p:nvPr/>
        </p:nvSpPr>
        <p:spPr>
          <a:xfrm>
            <a:off x="1097280" y="2039112"/>
            <a:ext cx="1014069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u="sng" dirty="0"/>
              <a:t>שם הקורס:</a:t>
            </a:r>
            <a:r>
              <a:rPr lang="he-IL" dirty="0"/>
              <a:t> תכנות מתקדם</a:t>
            </a:r>
          </a:p>
          <a:p>
            <a:r>
              <a:rPr lang="he-IL" u="sng" dirty="0"/>
              <a:t>מספר הקורס:</a:t>
            </a:r>
            <a:r>
              <a:rPr lang="he-IL" dirty="0"/>
              <a:t> 83677-01</a:t>
            </a:r>
            <a:endParaRPr lang="en-US" dirty="0"/>
          </a:p>
          <a:p>
            <a:endParaRPr lang="he-IL" u="sng" dirty="0"/>
          </a:p>
          <a:p>
            <a:r>
              <a:rPr lang="he-IL" u="sng" dirty="0"/>
              <a:t>שם המגיש:</a:t>
            </a:r>
            <a:r>
              <a:rPr lang="he-IL" dirty="0"/>
              <a:t> סער גולן</a:t>
            </a:r>
          </a:p>
        </p:txBody>
      </p:sp>
    </p:spTree>
    <p:extLst>
      <p:ext uri="{BB962C8B-B14F-4D97-AF65-F5344CB8AC3E}">
        <p14:creationId xmlns:p14="http://schemas.microsoft.com/office/powerpoint/2010/main" val="14264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1EC2D4-E5D8-62A7-9CB7-1A7A5372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he-IL" b="1" dirty="0"/>
              <a:t>סיפור רקע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3358243-27C3-ED21-7D84-BB409E4C7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>
            <a:normAutofit/>
          </a:bodyPr>
          <a:lstStyle/>
          <a:p>
            <a:r>
              <a:rPr lang="he-IL" sz="2000" dirty="0"/>
              <a:t>הפרויקט נבנה בצורה הדרגתית לאורך שישה תרגילים, כאשר בכל שלב נוספה שכבה חדשה למערכת עד לקבלת אפליקציה שלמה.</a:t>
            </a:r>
          </a:p>
          <a:p>
            <a:r>
              <a:rPr lang="he-IL" sz="2000" b="1" dirty="0"/>
              <a:t>תרגיל 1</a:t>
            </a:r>
            <a:r>
              <a:rPr lang="he-IL" sz="2000" dirty="0"/>
              <a:t> – מימוש שכבת </a:t>
            </a:r>
            <a:r>
              <a:rPr lang="he-IL" sz="2000" dirty="0" err="1"/>
              <a:t>ה־Model</a:t>
            </a:r>
            <a:r>
              <a:rPr lang="he-IL" sz="2000" dirty="0"/>
              <a:t> באמצעות מנגנון </a:t>
            </a:r>
            <a:r>
              <a:rPr lang="he-IL" sz="2000" dirty="0" err="1"/>
              <a:t>Publisher</a:t>
            </a:r>
            <a:r>
              <a:rPr lang="he-IL" sz="2000" dirty="0"/>
              <a:t>/</a:t>
            </a:r>
            <a:r>
              <a:rPr lang="he-IL" sz="2000" dirty="0" err="1"/>
              <a:t>Subscriber</a:t>
            </a:r>
            <a:r>
              <a:rPr lang="he-IL" sz="2000" dirty="0"/>
              <a:t>, הכולל </a:t>
            </a:r>
            <a:r>
              <a:rPr lang="he-IL" sz="2000" dirty="0" err="1"/>
              <a:t>Topics</a:t>
            </a:r>
            <a:r>
              <a:rPr lang="he-IL" sz="2000" dirty="0"/>
              <a:t>, </a:t>
            </a:r>
            <a:r>
              <a:rPr lang="he-IL" sz="2000" dirty="0" err="1"/>
              <a:t>Agents</a:t>
            </a:r>
            <a:r>
              <a:rPr lang="he-IL" sz="2000" dirty="0"/>
              <a:t> </a:t>
            </a:r>
            <a:r>
              <a:rPr lang="he-IL" sz="2000" dirty="0" err="1"/>
              <a:t>ו־Messages</a:t>
            </a:r>
            <a:r>
              <a:rPr lang="he-IL" sz="2000" dirty="0"/>
              <a:t>, כבסיס להעברת מידע במערכת. </a:t>
            </a:r>
          </a:p>
          <a:p>
            <a:r>
              <a:rPr lang="he-IL" sz="2000" b="1" dirty="0"/>
              <a:t>תרגילים 2–4</a:t>
            </a:r>
            <a:r>
              <a:rPr lang="he-IL" sz="2000" dirty="0"/>
              <a:t> – הרחבת המודל: הרצת </a:t>
            </a:r>
            <a:r>
              <a:rPr lang="he-IL" sz="2000" dirty="0" err="1"/>
              <a:t>Agents</a:t>
            </a:r>
            <a:r>
              <a:rPr lang="he-IL" sz="2000" dirty="0"/>
              <a:t> במקביל, טעינת קונפיגורציה דינמית באמצעות </a:t>
            </a:r>
            <a:r>
              <a:rPr lang="he-IL" sz="2000" dirty="0" err="1"/>
              <a:t>Reflection</a:t>
            </a:r>
            <a:r>
              <a:rPr lang="he-IL" sz="2000" dirty="0"/>
              <a:t>, ובניית גרף חישובי מתוך הקשרים בין </a:t>
            </a:r>
            <a:r>
              <a:rPr lang="he-IL" sz="2000" dirty="0" err="1"/>
              <a:t>ה־Topics</a:t>
            </a:r>
            <a:r>
              <a:rPr lang="he-IL" sz="2000" dirty="0"/>
              <a:t> </a:t>
            </a:r>
            <a:r>
              <a:rPr lang="he-IL" sz="2000" dirty="0" err="1"/>
              <a:t>וה־Agents</a:t>
            </a:r>
            <a:r>
              <a:rPr lang="he-IL" sz="2000" dirty="0"/>
              <a:t>. </a:t>
            </a:r>
          </a:p>
          <a:p>
            <a:r>
              <a:rPr lang="he-IL" sz="2000" b="1" dirty="0"/>
              <a:t>תרגיל 5</a:t>
            </a:r>
            <a:r>
              <a:rPr lang="he-IL" sz="2000" dirty="0"/>
              <a:t> – פיתוח שכבת </a:t>
            </a:r>
            <a:r>
              <a:rPr lang="he-IL" sz="2000" dirty="0" err="1"/>
              <a:t>ה־Controller</a:t>
            </a:r>
            <a:r>
              <a:rPr lang="he-IL" sz="2000" dirty="0"/>
              <a:t> באמצעות שרת HTTP </a:t>
            </a:r>
            <a:r>
              <a:rPr lang="he-IL" sz="2000" dirty="0" err="1"/>
              <a:t>ו־Servlets</a:t>
            </a:r>
            <a:r>
              <a:rPr lang="he-IL" sz="2000" dirty="0"/>
              <a:t>, המאפשרים תקשורת עם המערכת דרך בקשות HTTP. </a:t>
            </a:r>
          </a:p>
          <a:p>
            <a:r>
              <a:rPr lang="he-IL" sz="2000" b="1" dirty="0"/>
              <a:t>תרגיל 6</a:t>
            </a:r>
            <a:r>
              <a:rPr lang="he-IL" sz="2000" dirty="0"/>
              <a:t> – מימוש שכבת </a:t>
            </a:r>
            <a:r>
              <a:rPr lang="he-IL" sz="2000" dirty="0" err="1"/>
              <a:t>ה־View</a:t>
            </a:r>
            <a:r>
              <a:rPr lang="he-IL" sz="2000" dirty="0"/>
              <a:t>: ממשק אינטרנט המציג את הגרף החישובי, מאפשר טעינת קונפיגורציה, שליחת הודעות </a:t>
            </a:r>
            <a:r>
              <a:rPr lang="he-IL" sz="2000" dirty="0" err="1"/>
              <a:t>ל־Topics</a:t>
            </a:r>
            <a:r>
              <a:rPr lang="he-IL" sz="2000" dirty="0"/>
              <a:t> והצגת ערכי המערכת בזמן אמת. בנוסף נוספו שיפורים כמו גרף SVG אינטראקטיבי הניתן לגרירה והצגת הביטוי המתמטי המחושב. </a:t>
            </a:r>
          </a:p>
          <a:p>
            <a:r>
              <a:rPr lang="he-IL" sz="2000" dirty="0"/>
              <a:t>כך, בכל שלב נוסף רכיב חדש, עד שבסיום הפרויקט התקבלה מערכת מלאה המיישמת את עקרונות </a:t>
            </a:r>
            <a:r>
              <a:rPr lang="he-IL" sz="2000" b="1" dirty="0"/>
              <a:t>MVC</a:t>
            </a:r>
            <a:r>
              <a:rPr lang="he-IL" sz="2000" dirty="0"/>
              <a:t>, משלבת תבניות עיצוב, עבודה מקבילית, </a:t>
            </a:r>
            <a:r>
              <a:rPr lang="he-IL" sz="2000" dirty="0" err="1"/>
              <a:t>Reflection</a:t>
            </a:r>
            <a:r>
              <a:rPr lang="he-IL" sz="2000" dirty="0"/>
              <a:t>, שרת HTTP וממשק משתמש אינטראקטיבי.</a:t>
            </a:r>
          </a:p>
        </p:txBody>
      </p:sp>
    </p:spTree>
    <p:extLst>
      <p:ext uri="{BB962C8B-B14F-4D97-AF65-F5344CB8AC3E}">
        <p14:creationId xmlns:p14="http://schemas.microsoft.com/office/powerpoint/2010/main" val="61127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41ECE6-FF06-2CED-DCD2-C76927D5B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Design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68E1227-38CE-B02A-1900-65F19E8D7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281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he-IL" b="1" dirty="0" err="1"/>
              <a:t>Model</a:t>
            </a:r>
            <a:endParaRPr lang="he-IL" dirty="0"/>
          </a:p>
          <a:p>
            <a:r>
              <a:rPr lang="he-IL" dirty="0"/>
              <a:t>אחראי על הלוגיקה העסקית של המערכת. </a:t>
            </a:r>
          </a:p>
          <a:p>
            <a:r>
              <a:rPr lang="he-IL" dirty="0"/>
              <a:t>כולל את </a:t>
            </a:r>
            <a:r>
              <a:rPr lang="he-IL" dirty="0" err="1"/>
              <a:t>Topic</a:t>
            </a:r>
            <a:r>
              <a:rPr lang="he-IL" dirty="0"/>
              <a:t>, </a:t>
            </a:r>
            <a:r>
              <a:rPr lang="he-IL" dirty="0" err="1"/>
              <a:t>Agent</a:t>
            </a:r>
            <a:r>
              <a:rPr lang="he-IL" dirty="0"/>
              <a:t>, </a:t>
            </a:r>
            <a:r>
              <a:rPr lang="he-IL" dirty="0" err="1"/>
              <a:t>Message</a:t>
            </a:r>
            <a:r>
              <a:rPr lang="he-IL" dirty="0"/>
              <a:t>, </a:t>
            </a:r>
            <a:r>
              <a:rPr lang="he-IL" dirty="0" err="1"/>
              <a:t>TopicManagerSingleton</a:t>
            </a:r>
            <a:r>
              <a:rPr lang="he-IL" dirty="0"/>
              <a:t>, </a:t>
            </a:r>
            <a:r>
              <a:rPr lang="he-IL" dirty="0" err="1"/>
              <a:t>Graph</a:t>
            </a:r>
            <a:r>
              <a:rPr lang="he-IL" dirty="0"/>
              <a:t> </a:t>
            </a:r>
            <a:r>
              <a:rPr lang="he-IL" dirty="0" err="1"/>
              <a:t>ו־GenericConfig</a:t>
            </a:r>
            <a:r>
              <a:rPr lang="he-IL" dirty="0"/>
              <a:t>. </a:t>
            </a:r>
          </a:p>
          <a:p>
            <a:r>
              <a:rPr lang="he-IL" dirty="0"/>
              <a:t>מנהל את זרימת הנתונים, יצירת </a:t>
            </a:r>
            <a:r>
              <a:rPr lang="he-IL" dirty="0" err="1"/>
              <a:t>ה־Agents</a:t>
            </a:r>
            <a:r>
              <a:rPr lang="he-IL" dirty="0"/>
              <a:t> והחישובים בגרף. </a:t>
            </a:r>
          </a:p>
          <a:p>
            <a:r>
              <a:rPr lang="he-IL" b="1" dirty="0" err="1"/>
              <a:t>Controller</a:t>
            </a:r>
            <a:endParaRPr lang="he-IL" dirty="0"/>
          </a:p>
          <a:p>
            <a:r>
              <a:rPr lang="he-IL" dirty="0"/>
              <a:t>ממומש באמצעות </a:t>
            </a:r>
            <a:r>
              <a:rPr lang="he-IL" dirty="0" err="1"/>
              <a:t>MyHTTPServer</a:t>
            </a:r>
            <a:r>
              <a:rPr lang="he-IL" dirty="0"/>
              <a:t> </a:t>
            </a:r>
            <a:r>
              <a:rPr lang="he-IL" dirty="0" err="1"/>
              <a:t>וה־Servlets</a:t>
            </a:r>
            <a:r>
              <a:rPr lang="he-IL" dirty="0"/>
              <a:t>. </a:t>
            </a:r>
          </a:p>
          <a:p>
            <a:r>
              <a:rPr lang="he-IL" dirty="0" err="1"/>
              <a:t>HtmlLoader</a:t>
            </a:r>
            <a:r>
              <a:rPr lang="he-IL" dirty="0"/>
              <a:t> – טוען את דפי </a:t>
            </a:r>
            <a:r>
              <a:rPr lang="he-IL" dirty="0" err="1"/>
              <a:t>ה־HTML</a:t>
            </a:r>
            <a:r>
              <a:rPr lang="he-IL" dirty="0"/>
              <a:t>. </a:t>
            </a:r>
          </a:p>
          <a:p>
            <a:r>
              <a:rPr lang="he-IL" dirty="0" err="1"/>
              <a:t>ConfLoader</a:t>
            </a:r>
            <a:r>
              <a:rPr lang="he-IL" dirty="0"/>
              <a:t> – טוען קובץ קונפיגורציה ובונה את המערכת. </a:t>
            </a:r>
          </a:p>
          <a:p>
            <a:r>
              <a:rPr lang="he-IL" dirty="0" err="1"/>
              <a:t>TopicDisplayer</a:t>
            </a:r>
            <a:r>
              <a:rPr lang="he-IL" dirty="0"/>
              <a:t> – מפרסם הודעות </a:t>
            </a:r>
            <a:r>
              <a:rPr lang="he-IL" dirty="0" err="1"/>
              <a:t>ל־Topics</a:t>
            </a:r>
            <a:r>
              <a:rPr lang="he-IL" dirty="0"/>
              <a:t> ומעדכן את הערכים. </a:t>
            </a:r>
          </a:p>
          <a:p>
            <a:r>
              <a:rPr lang="he-IL" b="1" dirty="0" err="1"/>
              <a:t>View</a:t>
            </a:r>
            <a:endParaRPr lang="he-IL" dirty="0"/>
          </a:p>
          <a:p>
            <a:r>
              <a:rPr lang="he-IL" dirty="0"/>
              <a:t>מורכב מקבצי HTML </a:t>
            </a:r>
            <a:r>
              <a:rPr lang="he-IL" dirty="0" err="1"/>
              <a:t>ומ־HtmlGraphWriter</a:t>
            </a:r>
            <a:r>
              <a:rPr lang="he-IL" dirty="0"/>
              <a:t>. </a:t>
            </a:r>
          </a:p>
          <a:p>
            <a:r>
              <a:rPr lang="he-IL" dirty="0"/>
              <a:t>מציג את הגרף באמצעות SVG אינטראקטיבי. </a:t>
            </a:r>
          </a:p>
          <a:p>
            <a:r>
              <a:rPr lang="he-IL" dirty="0"/>
              <a:t>מציג את טבלת ערכי </a:t>
            </a:r>
            <a:r>
              <a:rPr lang="he-IL" dirty="0" err="1"/>
              <a:t>ה־Topics</a:t>
            </a:r>
            <a:r>
              <a:rPr lang="he-IL" dirty="0"/>
              <a:t> ואת הביטוי המתמטי שנבנה מהגרף.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7426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E61727-F6C1-8AD5-70DC-EBD13362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96" y="0"/>
            <a:ext cx="10515600" cy="594010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סיכום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7CD9F51-F52E-B712-CD3E-D1B36DE13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1211405"/>
            <a:ext cx="11076432" cy="4924219"/>
          </a:xfrm>
        </p:spPr>
        <p:txBody>
          <a:bodyPr>
            <a:normAutofit/>
          </a:bodyPr>
          <a:lstStyle/>
          <a:p>
            <a:r>
              <a:rPr lang="he-IL" sz="2000" b="1" dirty="0"/>
              <a:t>סיכום – מה לקחתי מהקורס</a:t>
            </a:r>
          </a:p>
          <a:p>
            <a:r>
              <a:rPr lang="he-IL" sz="2000" dirty="0"/>
              <a:t>למדתי לעבוד בצורה מסודרת יותר, עם תכנון מקדים לפני תחילת הפיתוח. </a:t>
            </a:r>
          </a:p>
          <a:p>
            <a:r>
              <a:rPr lang="he-IL" sz="2000" dirty="0"/>
              <a:t>הבנתי את החשיבות של חלוקת מערכת לשכבות והפרדה בין אחריות של רכיבים שונים. </a:t>
            </a:r>
          </a:p>
          <a:p>
            <a:r>
              <a:rPr lang="he-IL" sz="2000" dirty="0"/>
              <a:t>למדתי לפתח תוכנה בצורה נכונה יותר באמצעות עקרונות SOLID וחשיבה תכנונית. </a:t>
            </a:r>
          </a:p>
          <a:p>
            <a:r>
              <a:rPr lang="he-IL" sz="2000" dirty="0"/>
              <a:t>נחשפתי לארכיטקטורות שונות, כמו MVC </a:t>
            </a:r>
            <a:r>
              <a:rPr lang="he-IL" sz="2000" dirty="0" err="1"/>
              <a:t>ו־MVVM</a:t>
            </a:r>
            <a:r>
              <a:rPr lang="he-IL" sz="2000" dirty="0"/>
              <a:t>, והבנתי את היתרונות של כל אחת מהן. </a:t>
            </a:r>
          </a:p>
          <a:p>
            <a:r>
              <a:rPr lang="he-IL" sz="2000" dirty="0"/>
              <a:t>למדתי כיצד עובד שרת בסיסי וכיצד מתבצעת התקשורת בין השרת ללקוח. </a:t>
            </a:r>
          </a:p>
          <a:p>
            <a:r>
              <a:rPr lang="he-IL" sz="2000" dirty="0"/>
              <a:t>הכרתי כלים וטכנולוגיות מודרניות יותר, כמו Node.js, והרחבתי את ההיכרות שלי עם עולם פיתוח </a:t>
            </a:r>
            <a:r>
              <a:rPr lang="he-IL" sz="2000" dirty="0" err="1"/>
              <a:t>ה־Web</a:t>
            </a:r>
            <a:r>
              <a:rPr lang="he-IL" sz="2000" dirty="0"/>
              <a:t>. </a:t>
            </a:r>
          </a:p>
          <a:p>
            <a:r>
              <a:rPr lang="he-IL" sz="2000" dirty="0"/>
              <a:t>בפרויקט הסיום יישמתי בפועל את רוב הנושאים שנלמדו במהלך הקורס, משלב התכנון ועד למערכת מלאה ועובדת.</a:t>
            </a:r>
          </a:p>
          <a:p>
            <a:endParaRPr lang="he-IL" sz="2000" dirty="0"/>
          </a:p>
          <a:p>
            <a:r>
              <a:rPr lang="he-IL" sz="2000" dirty="0"/>
              <a:t>הדבר המרכזי שאקח מהקורס הוא החשיבות של עבודה מסודרת ותכנון נכון של המערכת. חלוקת הקוד לשכבות ועבודה לפי עקרונות נכונים מאפשרות לכתוב קוד קריא, מסודר וקל יותר לתחזוקה ולהרחבה בעתיד.</a:t>
            </a:r>
          </a:p>
        </p:txBody>
      </p:sp>
    </p:spTree>
    <p:extLst>
      <p:ext uri="{BB962C8B-B14F-4D97-AF65-F5344CB8AC3E}">
        <p14:creationId xmlns:p14="http://schemas.microsoft.com/office/powerpoint/2010/main" val="62676497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מסך רחב</PresentationFormat>
  <Paragraphs>37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ערכת נושא Office</vt:lpstr>
      <vt:lpstr>תכנות מתקדם-מטלת סיום</vt:lpstr>
      <vt:lpstr>סיפור רקע</vt:lpstr>
      <vt:lpstr>Design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saar golan</dc:creator>
  <cp:lastModifiedBy>saar golan</cp:lastModifiedBy>
  <cp:revision>3</cp:revision>
  <dcterms:created xsi:type="dcterms:W3CDTF">2026-06-30T08:56:23Z</dcterms:created>
  <dcterms:modified xsi:type="dcterms:W3CDTF">2026-06-30T10:15:11Z</dcterms:modified>
</cp:coreProperties>
</file>